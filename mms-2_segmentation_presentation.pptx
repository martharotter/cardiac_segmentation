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7"/>
  </p:notesMasterIdLst>
  <p:handoutMasterIdLst>
    <p:handoutMasterId r:id="rId28"/>
  </p:handoutMasterIdLst>
  <p:sldIdLst>
    <p:sldId id="452" r:id="rId2"/>
    <p:sldId id="464" r:id="rId3"/>
    <p:sldId id="456" r:id="rId4"/>
    <p:sldId id="463" r:id="rId5"/>
    <p:sldId id="457" r:id="rId6"/>
    <p:sldId id="458" r:id="rId7"/>
    <p:sldId id="459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62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79"/>
    <a:srgbClr val="017FBA"/>
    <a:srgbClr val="008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51C6B1-FA75-45F9-B91D-96195B03FE5A}" v="15" dt="2023-09-25T09:41:49.794"/>
    <p1510:client id="{DF85F94B-58CB-47F0-9CA7-1A56C0B33504}" v="2" dt="2023-09-25T13:23:09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168" y="8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CE0DE02-88C8-176C-8B4B-2C23072FB6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2E67F7-9522-4488-92D8-E2C6E03CB7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06356-76D9-EF46-B4C3-FABE3BA7E0F8}" type="datetimeFigureOut">
              <a:rPr kumimoji="1" lang="zh-CN" altLang="en-US" smtClean="0"/>
              <a:t>2025/8/10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78B228-33B3-579D-ABE4-1140CDB6BF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8B48AA-4086-F33E-6585-9CB95F2BFD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2CEBD-1FB6-D64D-A703-278685739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65416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4F1A44AC-034D-944F-9094-731171B91777}" type="datetimeFigureOut">
              <a:rPr lang="en-US" smtClean="0"/>
              <a:pPr/>
              <a:t>8/10/25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C378C644-46E3-604E-A322-046EBE0688A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973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M White layout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BB6CEF-BFEB-9161-DD11-6FA2140FC3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699"/>
            <a:ext cx="12214665" cy="6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6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OM White layou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33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M White layou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0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OM White layou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70695"/>
            <a:ext cx="5181600" cy="4006267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70695"/>
            <a:ext cx="5181600" cy="4006267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F606-9667-8B68-B43A-6646C492D4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0661" y="627366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en-IE" dirty="0"/>
              <a:t>11 July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02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 White layout  Side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16303C6-A16C-9845-F823-A57495F726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29488" y="0"/>
            <a:ext cx="4862512" cy="6858000"/>
          </a:xfrm>
          <a:prstGeom prst="parallelogram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95D6F24-AF7D-0C77-DB0D-E28787EC01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9488"/>
            <a:ext cx="561975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088868-2612-D693-34B3-D8A78B62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2D4CD683-7FF5-4C51-7943-B290F6AFF2ED}"/>
              </a:ext>
            </a:extLst>
          </p:cNvPr>
          <p:cNvSpPr/>
          <p:nvPr userDrawn="1"/>
        </p:nvSpPr>
        <p:spPr>
          <a:xfrm flipH="1">
            <a:off x="7172322" y="0"/>
            <a:ext cx="4701021" cy="6871850"/>
          </a:xfrm>
          <a:prstGeom prst="parallelogram">
            <a:avLst/>
          </a:prstGeom>
          <a:solidFill>
            <a:srgbClr val="017F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017FBA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10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 White layout multi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98E4D21-ADCF-B2E2-F78E-B69FC0EDB0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249488"/>
            <a:ext cx="509154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DA28742E-C28D-4AF4-BB1F-A930FC0D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290"/>
            <a:ext cx="5091544" cy="8677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A356A5-AD34-AB62-6081-FD5B5F8273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8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 White layout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48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 White layout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41;p1">
            <a:extLst>
              <a:ext uri="{FF2B5EF4-FFF2-40B4-BE49-F238E27FC236}">
                <a16:creationId xmlns:a16="http://schemas.microsoft.com/office/drawing/2014/main" id="{44D35E51-5723-A5C4-61C9-8184D16CEED9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909" y="2976478"/>
            <a:ext cx="4346183" cy="167954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959C99A2-08C2-FF89-A691-C99F06F1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9704"/>
            <a:ext cx="10515600" cy="86779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C8C22AA-4EE4-669B-8B42-15BA6FFDA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9786"/>
            <a:ext cx="9144000" cy="512759"/>
          </a:xfrm>
        </p:spPr>
        <p:txBody>
          <a:bodyPr/>
          <a:lstStyle>
            <a:lvl1pPr marL="0" indent="0" algn="ctr">
              <a:buNone/>
              <a:defRPr sz="1800" b="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6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Placeholder 1">
            <a:extLst>
              <a:ext uri="{FF2B5EF4-FFF2-40B4-BE49-F238E27FC236}">
                <a16:creationId xmlns:a16="http://schemas.microsoft.com/office/drawing/2014/main" id="{8E81695E-31A9-23D7-E6E5-BB1647790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102290"/>
            <a:ext cx="10515600" cy="86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7651" name="Text Placeholder 2">
            <a:extLst>
              <a:ext uri="{FF2B5EF4-FFF2-40B4-BE49-F238E27FC236}">
                <a16:creationId xmlns:a16="http://schemas.microsoft.com/office/drawing/2014/main" id="{447FF66F-046E-3A6F-CC3E-7C8E27922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249488"/>
            <a:ext cx="105156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49765C7-54D0-B745-03E2-983FF0642C0B}"/>
              </a:ext>
            </a:extLst>
          </p:cNvPr>
          <p:cNvSpPr txBox="1">
            <a:spLocks/>
          </p:cNvSpPr>
          <p:nvPr userDrawn="1"/>
        </p:nvSpPr>
        <p:spPr>
          <a:xfrm>
            <a:off x="724659" y="203479"/>
            <a:ext cx="10624502" cy="365125"/>
          </a:xfrm>
          <a:prstGeom prst="rect">
            <a:avLst/>
          </a:prstGeom>
        </p:spPr>
        <p:txBody>
          <a:bodyPr rIns="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sz="800" b="0" i="0" dirty="0">
                <a:solidFill>
                  <a:schemeClr val="accent5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UCD Ireland’s Global University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A24AEB-77CA-EEC8-8421-BE4B1A8727CA}"/>
              </a:ext>
            </a:extLst>
          </p:cNvPr>
          <p:cNvCxnSpPr>
            <a:cxnSpLocks/>
            <a:stCxn id="2" idx="3"/>
          </p:cNvCxnSpPr>
          <p:nvPr userDrawn="1"/>
        </p:nvCxnSpPr>
        <p:spPr>
          <a:xfrm flipV="1">
            <a:off x="2735262" y="523875"/>
            <a:ext cx="8612543" cy="14552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0">
            <a:extLst>
              <a:ext uri="{FF2B5EF4-FFF2-40B4-BE49-F238E27FC236}">
                <a16:creationId xmlns:a16="http://schemas.microsoft.com/office/drawing/2014/main" id="{D5C991AB-A889-87BD-78CE-E6ECFC042C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360" y="149300"/>
            <a:ext cx="2013902" cy="77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0573D49-DE7D-7909-F55A-1C168ABAD5FC}"/>
              </a:ext>
            </a:extLst>
          </p:cNvPr>
          <p:cNvSpPr txBox="1">
            <a:spLocks/>
          </p:cNvSpPr>
          <p:nvPr userDrawn="1"/>
        </p:nvSpPr>
        <p:spPr>
          <a:xfrm>
            <a:off x="785178" y="6273662"/>
            <a:ext cx="4114800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b="0" i="0" dirty="0" err="1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www.ucd.ie</a:t>
            </a:r>
            <a:r>
              <a:rPr lang="en-IE" sz="900" b="0" i="0" dirty="0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/medicine</a:t>
            </a:r>
            <a:endParaRPr sz="900" b="0" i="0" dirty="0">
              <a:solidFill>
                <a:srgbClr val="004179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943360-91E3-E7C4-FB77-7941480577B7}"/>
              </a:ext>
            </a:extLst>
          </p:cNvPr>
          <p:cNvCxnSpPr>
            <a:cxnSpLocks/>
          </p:cNvCxnSpPr>
          <p:nvPr userDrawn="1"/>
        </p:nvCxnSpPr>
        <p:spPr>
          <a:xfrm>
            <a:off x="830580" y="6361113"/>
            <a:ext cx="10515600" cy="0"/>
          </a:xfrm>
          <a:prstGeom prst="line">
            <a:avLst/>
          </a:prstGeom>
          <a:ln>
            <a:solidFill>
              <a:srgbClr val="00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8DD06C-7CEC-8F22-78C1-739ACBC55387}"/>
              </a:ext>
            </a:extLst>
          </p:cNvPr>
          <p:cNvSpPr txBox="1">
            <a:spLocks/>
          </p:cNvSpPr>
          <p:nvPr userDrawn="1"/>
        </p:nvSpPr>
        <p:spPr>
          <a:xfrm>
            <a:off x="11148829" y="6273662"/>
            <a:ext cx="345077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fld id="{E0568D73-D78C-8749-8114-E8915A34E6F5}" type="slidenum">
              <a:rPr lang="en-IE" sz="900" b="0" i="0" smtClean="0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sz="900" b="0" i="0" dirty="0">
              <a:solidFill>
                <a:srgbClr val="004179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13" r:id="rId2"/>
    <p:sldLayoutId id="2147483714" r:id="rId3"/>
    <p:sldLayoutId id="2147483715" r:id="rId4"/>
    <p:sldLayoutId id="2147483716" r:id="rId5"/>
    <p:sldLayoutId id="2147483770" r:id="rId6"/>
    <p:sldLayoutId id="2147483718" r:id="rId7"/>
    <p:sldLayoutId id="2147483717" r:id="rId8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b="0" i="0" kern="1200">
          <a:solidFill>
            <a:srgbClr val="004179"/>
          </a:solidFill>
          <a:latin typeface="Verdana" panose="020B0604030504040204" pitchFamily="34" charset="0"/>
          <a:ea typeface="Tahoma" panose="020B0604030504040204" pitchFamily="34" charset="0"/>
          <a:cs typeface="Verdana" panose="020B0604030504040204" pitchFamily="34" charset="0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4179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b="0" i="0" kern="1200">
          <a:solidFill>
            <a:srgbClr val="004179"/>
          </a:solidFill>
          <a:latin typeface="Verdana" panose="020B0604030504040204" pitchFamily="34" charset="0"/>
          <a:ea typeface="Tahoma" panose="020B0604030504040204" pitchFamily="34" charset="0"/>
          <a:cs typeface="Verdana" panose="020B0604030504040204" pitchFamily="34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b="0" i="0" kern="1200">
          <a:solidFill>
            <a:srgbClr val="004179"/>
          </a:solidFill>
          <a:latin typeface="Verdana" panose="020B0604030504040204" pitchFamily="34" charset="0"/>
          <a:ea typeface="Tahoma" panose="020B0604030504040204" pitchFamily="34" charset="0"/>
          <a:cs typeface="Verdana" panose="020B060403050404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0" i="0" kern="1200">
          <a:solidFill>
            <a:srgbClr val="004179"/>
          </a:solidFill>
          <a:latin typeface="Verdana" panose="020B0604030504040204" pitchFamily="34" charset="0"/>
          <a:ea typeface="Tahoma" panose="020B0604030504040204" pitchFamily="34" charset="0"/>
          <a:cs typeface="Verdana" panose="020B060403050404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004179"/>
          </a:solidFill>
          <a:latin typeface="Verdana" panose="020B0604030504040204" pitchFamily="34" charset="0"/>
          <a:ea typeface="Tahoma" panose="020B0604030504040204" pitchFamily="34" charset="0"/>
          <a:cs typeface="Verdana" panose="020B060403050404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004179"/>
          </a:solidFill>
          <a:latin typeface="Verdana" panose="020B0604030504040204" pitchFamily="34" charset="0"/>
          <a:ea typeface="Tahom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alpha val="25227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8A0CA60B-A989-0060-F539-2C993C167C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98"/>
          <a:stretch/>
        </p:blipFill>
        <p:spPr>
          <a:xfrm>
            <a:off x="-1" y="-1"/>
            <a:ext cx="12192000" cy="617026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87865DF-42B3-5AC9-CAEF-B19A2ECEAFD0}"/>
              </a:ext>
            </a:extLst>
          </p:cNvPr>
          <p:cNvSpPr/>
          <p:nvPr/>
        </p:nvSpPr>
        <p:spPr>
          <a:xfrm>
            <a:off x="-1" y="0"/>
            <a:ext cx="12192000" cy="6170264"/>
          </a:xfrm>
          <a:prstGeom prst="rect">
            <a:avLst/>
          </a:prstGeom>
          <a:gradFill>
            <a:gsLst>
              <a:gs pos="39000">
                <a:schemeClr val="bg1"/>
              </a:gs>
              <a:gs pos="0">
                <a:schemeClr val="bg1">
                  <a:alpha val="6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6D7DA-FA7A-B43E-AB69-A640E2AF1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4813"/>
            <a:ext cx="9144000" cy="2387600"/>
          </a:xfrm>
        </p:spPr>
        <p:txBody>
          <a:bodyPr/>
          <a:lstStyle/>
          <a:p>
            <a:r>
              <a:rPr lang="en-IE" dirty="0"/>
              <a:t>M&amp;Ms-2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ADF72-2EA5-088F-70C9-6A61E26D7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9715" y="4058693"/>
            <a:ext cx="7999863" cy="523081"/>
          </a:xfrm>
        </p:spPr>
        <p:txBody>
          <a:bodyPr/>
          <a:lstStyle/>
          <a:p>
            <a:pPr algn="l"/>
            <a:r>
              <a:rPr lang="en-IE" sz="2200" b="1" dirty="0"/>
              <a:t>Module: </a:t>
            </a:r>
            <a:r>
              <a:rPr lang="en-IE" sz="2200" dirty="0"/>
              <a:t>RDGY41710 - AI For Medical Image Analysis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C4A849-0CD3-63E3-E1BB-57E9270395EF}"/>
              </a:ext>
            </a:extLst>
          </p:cNvPr>
          <p:cNvSpPr txBox="1">
            <a:spLocks/>
          </p:cNvSpPr>
          <p:nvPr/>
        </p:nvSpPr>
        <p:spPr bwMode="auto">
          <a:xfrm>
            <a:off x="1278340" y="4581774"/>
            <a:ext cx="9635319" cy="70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/>
            <a:r>
              <a:rPr lang="en-IE" sz="2200" b="1" dirty="0"/>
              <a:t>Contributors: </a:t>
            </a:r>
            <a:r>
              <a:rPr lang="en-IE" sz="2200" dirty="0"/>
              <a:t>William O Brien, Martha Rotter, </a:t>
            </a:r>
            <a:r>
              <a:rPr lang="en-US" altLang="zh-CN" sz="2200" dirty="0"/>
              <a:t>Yu DU, </a:t>
            </a:r>
            <a:r>
              <a:rPr lang="en-IE" sz="2200" dirty="0" err="1"/>
              <a:t>Devaharish</a:t>
            </a:r>
            <a:r>
              <a:rPr lang="en-IE" sz="2200" dirty="0"/>
              <a:t> </a:t>
            </a:r>
            <a:r>
              <a:rPr lang="en-IE" sz="2200" dirty="0" err="1"/>
              <a:t>Srikannan</a:t>
            </a:r>
            <a:r>
              <a:rPr lang="en-IE" sz="2200" dirty="0"/>
              <a:t>, </a:t>
            </a:r>
            <a:r>
              <a:rPr lang="en-IE" sz="2200" dirty="0" err="1"/>
              <a:t>Binhan</a:t>
            </a:r>
            <a:r>
              <a:rPr lang="en-IE" sz="2200" dirty="0"/>
              <a:t> XIAO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B85C1C8-4167-D993-EBEF-11E1FD7C45B6}"/>
              </a:ext>
            </a:extLst>
          </p:cNvPr>
          <p:cNvSpPr txBox="1">
            <a:spLocks/>
          </p:cNvSpPr>
          <p:nvPr/>
        </p:nvSpPr>
        <p:spPr bwMode="auto">
          <a:xfrm>
            <a:off x="1278340" y="5647184"/>
            <a:ext cx="9635319" cy="523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i="0" kern="1200">
                <a:solidFill>
                  <a:srgbClr val="004179"/>
                </a:solidFill>
                <a:latin typeface="Verdana" panose="020B0604030504040204" pitchFamily="34" charset="0"/>
                <a:ea typeface="Tahoma" panose="020B0604030504040204" pitchFamily="34" charset="0"/>
                <a:cs typeface="Verdana" panose="020B060403050404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IE" dirty="0"/>
              <a:t>August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en-US" altLang="zh-CN" baseline="30000" dirty="0"/>
              <a:t>th</a:t>
            </a:r>
            <a:r>
              <a:rPr lang="en-US" altLang="zh-CN" dirty="0"/>
              <a:t>, 2025</a:t>
            </a:r>
            <a:endParaRPr lang="en-IE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B770F6E-F06E-5060-67E9-5820E0950664}"/>
              </a:ext>
            </a:extLst>
          </p:cNvPr>
          <p:cNvSpPr txBox="1">
            <a:spLocks/>
          </p:cNvSpPr>
          <p:nvPr/>
        </p:nvSpPr>
        <p:spPr>
          <a:xfrm>
            <a:off x="724659" y="203479"/>
            <a:ext cx="10624502" cy="365125"/>
          </a:xfrm>
          <a:prstGeom prst="rect">
            <a:avLst/>
          </a:prstGeom>
        </p:spPr>
        <p:txBody>
          <a:bodyPr rIns="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sz="800" b="0" i="0" dirty="0">
                <a:solidFill>
                  <a:schemeClr val="accent5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UCD Ireland’s Global University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BAF8B7-E1FB-3E9B-B184-6F3C2471591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735262" y="523875"/>
            <a:ext cx="8612543" cy="14552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0">
            <a:extLst>
              <a:ext uri="{FF2B5EF4-FFF2-40B4-BE49-F238E27FC236}">
                <a16:creationId xmlns:a16="http://schemas.microsoft.com/office/drawing/2014/main" id="{64A3A6CD-A465-3F41-4D70-39626CDD0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360" y="149300"/>
            <a:ext cx="2013902" cy="77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02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占位符 5">
            <a:extLst>
              <a:ext uri="{FF2B5EF4-FFF2-40B4-BE49-F238E27FC236}">
                <a16:creationId xmlns:a16="http://schemas.microsoft.com/office/drawing/2014/main" id="{2ACAB0BC-B8D5-3F1B-CBDE-196AC703946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" r="146"/>
          <a:stretch>
            <a:fillRect/>
          </a:stretch>
        </p:blipFill>
        <p:spPr/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9B9657-579C-A0E6-F6C4-DCEE336C4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Introduction</a:t>
            </a:r>
          </a:p>
          <a:p>
            <a:r>
              <a:rPr kumimoji="1" lang="en-US" altLang="zh-CN" dirty="0"/>
              <a:t>Methodology</a:t>
            </a:r>
          </a:p>
          <a:p>
            <a:r>
              <a:rPr kumimoji="1" lang="en-US" altLang="zh-CN" dirty="0"/>
              <a:t>Experiments</a:t>
            </a:r>
          </a:p>
          <a:p>
            <a:r>
              <a:rPr kumimoji="1" lang="en-US" altLang="zh-CN" dirty="0"/>
              <a:t>Results</a:t>
            </a:r>
          </a:p>
          <a:p>
            <a:r>
              <a:rPr kumimoji="1" lang="en-US" altLang="zh-CN" dirty="0"/>
              <a:t>Conclusion</a:t>
            </a:r>
          </a:p>
          <a:p>
            <a:r>
              <a:rPr kumimoji="1" lang="en-US" altLang="zh-CN" dirty="0"/>
              <a:t>Discussion</a:t>
            </a:r>
            <a:endParaRPr kumimoji="1"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B2F001D-9795-E507-B28B-34384A66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9B271FF-CDD5-F7BE-5EC5-D56F7502226B}"/>
              </a:ext>
            </a:extLst>
          </p:cNvPr>
          <p:cNvSpPr txBox="1">
            <a:spLocks/>
          </p:cNvSpPr>
          <p:nvPr/>
        </p:nvSpPr>
        <p:spPr>
          <a:xfrm>
            <a:off x="724659" y="203479"/>
            <a:ext cx="10624502" cy="365125"/>
          </a:xfrm>
          <a:prstGeom prst="rect">
            <a:avLst/>
          </a:prstGeom>
        </p:spPr>
        <p:txBody>
          <a:bodyPr rIns="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sz="800" b="0" i="0" dirty="0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UCD Ireland’s Global University</a:t>
            </a: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DF30A08A-1645-EA17-4E48-6DBFF5EFD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360" y="149300"/>
            <a:ext cx="2013902" cy="77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FF6222-8E57-EA8F-A468-AD94753A5877}"/>
              </a:ext>
            </a:extLst>
          </p:cNvPr>
          <p:cNvSpPr txBox="1">
            <a:spLocks/>
          </p:cNvSpPr>
          <p:nvPr/>
        </p:nvSpPr>
        <p:spPr>
          <a:xfrm>
            <a:off x="785178" y="6273662"/>
            <a:ext cx="4114800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b="0" i="0" dirty="0" err="1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www.ucd.ie</a:t>
            </a:r>
            <a:r>
              <a:rPr lang="en-IE" sz="900" b="0" i="0" dirty="0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/medicine</a:t>
            </a:r>
            <a:endParaRPr sz="900" b="0" i="0" dirty="0">
              <a:solidFill>
                <a:srgbClr val="004179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1" name="Straight Connector 3">
            <a:extLst>
              <a:ext uri="{FF2B5EF4-FFF2-40B4-BE49-F238E27FC236}">
                <a16:creationId xmlns:a16="http://schemas.microsoft.com/office/drawing/2014/main" id="{30401EA6-573B-6DB8-4D6D-B45B439035D2}"/>
              </a:ext>
            </a:extLst>
          </p:cNvPr>
          <p:cNvCxnSpPr>
            <a:cxnSpLocks/>
          </p:cNvCxnSpPr>
          <p:nvPr/>
        </p:nvCxnSpPr>
        <p:spPr>
          <a:xfrm>
            <a:off x="830580" y="6361113"/>
            <a:ext cx="6598920" cy="0"/>
          </a:xfrm>
          <a:prstGeom prst="line">
            <a:avLst/>
          </a:prstGeom>
          <a:ln>
            <a:solidFill>
              <a:srgbClr val="00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32A03B6-D874-94A0-40E7-779FE5EBF7A4}"/>
              </a:ext>
            </a:extLst>
          </p:cNvPr>
          <p:cNvSpPr txBox="1">
            <a:spLocks/>
          </p:cNvSpPr>
          <p:nvPr/>
        </p:nvSpPr>
        <p:spPr>
          <a:xfrm>
            <a:off x="11148829" y="6273662"/>
            <a:ext cx="345077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fld id="{E0568D73-D78C-8749-8114-E8915A34E6F5}" type="slidenum">
              <a:rPr lang="en-IE" sz="900" b="0" i="0" smtClean="0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sz="900" b="0" i="0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50DD08A8-37F5-D54A-AD84-F56564BB2067}"/>
              </a:ext>
            </a:extLst>
          </p:cNvPr>
          <p:cNvCxnSpPr>
            <a:cxnSpLocks/>
          </p:cNvCxnSpPr>
          <p:nvPr/>
        </p:nvCxnSpPr>
        <p:spPr>
          <a:xfrm>
            <a:off x="7256834" y="530787"/>
            <a:ext cx="409097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95583578-76E3-511F-12A0-6AA9251550A2}"/>
              </a:ext>
            </a:extLst>
          </p:cNvPr>
          <p:cNvCxnSpPr>
            <a:cxnSpLocks/>
          </p:cNvCxnSpPr>
          <p:nvPr/>
        </p:nvCxnSpPr>
        <p:spPr>
          <a:xfrm flipV="1">
            <a:off x="2735262" y="530787"/>
            <a:ext cx="4521572" cy="764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3">
            <a:extLst>
              <a:ext uri="{FF2B5EF4-FFF2-40B4-BE49-F238E27FC236}">
                <a16:creationId xmlns:a16="http://schemas.microsoft.com/office/drawing/2014/main" id="{4D1C16BD-05B6-6546-E85E-FED6B34DCD71}"/>
              </a:ext>
            </a:extLst>
          </p:cNvPr>
          <p:cNvCxnSpPr>
            <a:cxnSpLocks/>
          </p:cNvCxnSpPr>
          <p:nvPr/>
        </p:nvCxnSpPr>
        <p:spPr>
          <a:xfrm>
            <a:off x="7429500" y="6361113"/>
            <a:ext cx="3916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00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38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24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63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6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441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98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415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16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6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060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771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204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459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138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061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683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290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209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168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711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537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367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65BD5B33-405A-E414-88DF-95112318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6302978-7EA9-4253-9ED5-DE2E1E4BFCF3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93000">
                <a:srgbClr val="FFFFFF"/>
              </a:gs>
              <a:gs pos="7000">
                <a:srgbClr val="FFFFFF"/>
              </a:gs>
              <a:gs pos="60000">
                <a:schemeClr val="bg1">
                  <a:alpha val="20000"/>
                </a:schemeClr>
              </a:gs>
              <a:gs pos="40000">
                <a:schemeClr val="bg1">
                  <a:alpha val="1999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Google Shape;140;p1">
            <a:extLst>
              <a:ext uri="{FF2B5EF4-FFF2-40B4-BE49-F238E27FC236}">
                <a16:creationId xmlns:a16="http://schemas.microsoft.com/office/drawing/2014/main" id="{7337D242-CC99-90B0-D699-BA97D94D5643}"/>
              </a:ext>
            </a:extLst>
          </p:cNvPr>
          <p:cNvSpPr txBox="1"/>
          <p:nvPr/>
        </p:nvSpPr>
        <p:spPr>
          <a:xfrm>
            <a:off x="-2976281" y="2012308"/>
            <a:ext cx="121920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7200" u="none" strike="noStrike" cap="none" dirty="0">
                <a:solidFill>
                  <a:srgbClr val="0041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/>
              </a:rPr>
              <a:t>Thank You</a:t>
            </a:r>
            <a:endParaRPr dirty="0">
              <a:solidFill>
                <a:srgbClr val="004179"/>
              </a:solidFill>
              <a:latin typeface="Verdana" panose="020B0604030504040204" pitchFamily="34" charset="0"/>
            </a:endParaRPr>
          </a:p>
        </p:txBody>
      </p:sp>
      <p:pic>
        <p:nvPicPr>
          <p:cNvPr id="5" name="Google Shape;141;p1">
            <a:extLst>
              <a:ext uri="{FF2B5EF4-FFF2-40B4-BE49-F238E27FC236}">
                <a16:creationId xmlns:a16="http://schemas.microsoft.com/office/drawing/2014/main" id="{52B213CD-DA63-4EF1-C879-2BB5B0E5DE40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6628" y="2976478"/>
            <a:ext cx="4346183" cy="16795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2;p1">
            <a:extLst>
              <a:ext uri="{FF2B5EF4-FFF2-40B4-BE49-F238E27FC236}">
                <a16:creationId xmlns:a16="http://schemas.microsoft.com/office/drawing/2014/main" id="{98279179-82FF-B16D-89A6-CB9D415C80C7}"/>
              </a:ext>
            </a:extLst>
          </p:cNvPr>
          <p:cNvSpPr txBox="1"/>
          <p:nvPr/>
        </p:nvSpPr>
        <p:spPr>
          <a:xfrm>
            <a:off x="-2976281" y="4637618"/>
            <a:ext cx="12192000" cy="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>
                <a:solidFill>
                  <a:srgbClr val="0041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/>
              </a:rPr>
              <a:t>https://</a:t>
            </a:r>
            <a:r>
              <a:rPr lang="en-IE" dirty="0" err="1">
                <a:solidFill>
                  <a:srgbClr val="0041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/>
              </a:rPr>
              <a:t>www.</a:t>
            </a:r>
            <a:r>
              <a:rPr lang="en-IE" sz="1800" u="none" strike="noStrike" cap="none" dirty="0" err="1">
                <a:solidFill>
                  <a:srgbClr val="0041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/>
              </a:rPr>
              <a:t>ucd.ie</a:t>
            </a:r>
            <a:r>
              <a:rPr lang="en-IE" sz="1800" u="none" strike="noStrike" cap="none" dirty="0">
                <a:solidFill>
                  <a:srgbClr val="0041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/>
              </a:rPr>
              <a:t>/medicine</a:t>
            </a:r>
            <a:endParaRPr dirty="0">
              <a:solidFill>
                <a:srgbClr val="004179"/>
              </a:solidFill>
              <a:latin typeface="Verdana" panose="020B0604030504040204" pitchFamily="3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u="none" strike="noStrike" cap="none" dirty="0">
              <a:solidFill>
                <a:srgbClr val="00417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u="none" strike="noStrike" cap="none" dirty="0">
              <a:solidFill>
                <a:schemeClr val="l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Arial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085295-32EA-B750-44B6-5D9F4D1CA381}"/>
              </a:ext>
            </a:extLst>
          </p:cNvPr>
          <p:cNvSpPr txBox="1">
            <a:spLocks/>
          </p:cNvSpPr>
          <p:nvPr/>
        </p:nvSpPr>
        <p:spPr>
          <a:xfrm>
            <a:off x="724659" y="203479"/>
            <a:ext cx="10624502" cy="365125"/>
          </a:xfrm>
          <a:prstGeom prst="rect">
            <a:avLst/>
          </a:prstGeom>
        </p:spPr>
        <p:txBody>
          <a:bodyPr rIns="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sz="800" b="0" i="0" dirty="0">
                <a:solidFill>
                  <a:schemeClr val="accent5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UCD Ireland’s Global University</a:t>
            </a: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23C9E2CB-50F5-5BD2-636B-E3A58296A5E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735262" y="523875"/>
            <a:ext cx="8612543" cy="14552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0">
            <a:extLst>
              <a:ext uri="{FF2B5EF4-FFF2-40B4-BE49-F238E27FC236}">
                <a16:creationId xmlns:a16="http://schemas.microsoft.com/office/drawing/2014/main" id="{63CE6AD8-81AD-FF58-5E11-CFD29F52B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360" y="149300"/>
            <a:ext cx="2013902" cy="77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399F704-F948-7FA3-FB8B-97B6FC8E1894}"/>
              </a:ext>
            </a:extLst>
          </p:cNvPr>
          <p:cNvSpPr txBox="1">
            <a:spLocks/>
          </p:cNvSpPr>
          <p:nvPr/>
        </p:nvSpPr>
        <p:spPr>
          <a:xfrm>
            <a:off x="785178" y="6273662"/>
            <a:ext cx="4114800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b="0" i="0" dirty="0" err="1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www.ucd.ie</a:t>
            </a:r>
            <a:r>
              <a:rPr lang="en-IE" sz="900" b="0" i="0" dirty="0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/medicine</a:t>
            </a:r>
            <a:endParaRPr sz="900" b="0" i="0" dirty="0">
              <a:solidFill>
                <a:srgbClr val="004179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1" name="Straight Connector 3">
            <a:extLst>
              <a:ext uri="{FF2B5EF4-FFF2-40B4-BE49-F238E27FC236}">
                <a16:creationId xmlns:a16="http://schemas.microsoft.com/office/drawing/2014/main" id="{8DA4B898-D3A7-66C0-08E2-3BF8898F8447}"/>
              </a:ext>
            </a:extLst>
          </p:cNvPr>
          <p:cNvCxnSpPr>
            <a:cxnSpLocks/>
          </p:cNvCxnSpPr>
          <p:nvPr/>
        </p:nvCxnSpPr>
        <p:spPr>
          <a:xfrm>
            <a:off x="830580" y="6361113"/>
            <a:ext cx="10515600" cy="0"/>
          </a:xfrm>
          <a:prstGeom prst="line">
            <a:avLst/>
          </a:prstGeom>
          <a:ln>
            <a:solidFill>
              <a:srgbClr val="00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C6FD03-7B2A-B7E4-C791-27E8825C54E9}"/>
              </a:ext>
            </a:extLst>
          </p:cNvPr>
          <p:cNvSpPr txBox="1">
            <a:spLocks/>
          </p:cNvSpPr>
          <p:nvPr/>
        </p:nvSpPr>
        <p:spPr>
          <a:xfrm>
            <a:off x="11148829" y="6273662"/>
            <a:ext cx="345077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marL="0" algn="ctr" defTabSz="914400" rtl="0" eaLnBrk="1" latinLnBrk="0" hangingPunct="1">
              <a:defRPr lang="en-IE" sz="1200" b="0" i="0" kern="1200" smtClean="0">
                <a:solidFill>
                  <a:schemeClr val="tx1">
                    <a:tint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fld id="{E0568D73-D78C-8749-8114-E8915A34E6F5}" type="slidenum">
              <a:rPr lang="en-IE" sz="900" b="0" i="0" smtClean="0">
                <a:solidFill>
                  <a:srgbClr val="004179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25</a:t>
            </a:fld>
            <a:endParaRPr sz="900" b="0" i="0" dirty="0">
              <a:solidFill>
                <a:srgbClr val="004179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51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SOM White layout Content slide">
  <a:themeElements>
    <a:clrScheme name="UCD RTTF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6D200"/>
      </a:accent1>
      <a:accent2>
        <a:srgbClr val="71BE44"/>
      </a:accent2>
      <a:accent3>
        <a:srgbClr val="009849"/>
      </a:accent3>
      <a:accent4>
        <a:srgbClr val="0089CF"/>
      </a:accent4>
      <a:accent5>
        <a:srgbClr val="004179"/>
      </a:accent5>
      <a:accent6>
        <a:srgbClr val="F0B11D"/>
      </a:accent6>
      <a:hlink>
        <a:srgbClr val="00793A"/>
      </a:hlink>
      <a:folHlink>
        <a:srgbClr val="5BA04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80</Words>
  <Application>Microsoft Macintosh PowerPoint</Application>
  <PresentationFormat>宽屏</PresentationFormat>
  <Paragraphs>20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Arial</vt:lpstr>
      <vt:lpstr>Calibri</vt:lpstr>
      <vt:lpstr>Verdana</vt:lpstr>
      <vt:lpstr>SOM White layout Content slide</vt:lpstr>
      <vt:lpstr>M&amp;Ms-2 Segmentation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UCD School of Agriculture and Food Science</dc:title>
  <dc:creator>Valerie Abbott</dc:creator>
  <cp:lastModifiedBy>Godot</cp:lastModifiedBy>
  <cp:revision>43</cp:revision>
  <dcterms:created xsi:type="dcterms:W3CDTF">2022-02-16T00:08:06Z</dcterms:created>
  <dcterms:modified xsi:type="dcterms:W3CDTF">2025-08-10T13:11:24Z</dcterms:modified>
</cp:coreProperties>
</file>